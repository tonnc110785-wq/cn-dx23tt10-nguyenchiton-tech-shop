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8580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 Light"/>
              </a:rPr>
              <a:t>TRƯỜNG ĐẠI HỌC TRÀ VINH  ·  KHOA KỸ THUẬT VÀ CÔNG NGHỆ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ĐỒ ÁN THỰC TẬP CƠ SỞ NGÀNH  ·  CHUYÊN NGÀNH CNTT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Calibri"/>
              </a:rPr>
              <a:t>TÌM HIỂU AMAZON ELASTIC COMPUTE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2E8F0"/>
                </a:solidFill>
                <a:latin typeface="Calibri Light"/>
              </a:rPr>
              <a:t>VÀ THIẾT KẾ WEBSITE BÁN SẢN PHẨM ĐIỆN MÁY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441448"/>
            <a:ext cx="4873752" cy="1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39756" y="2697480"/>
            <a:ext cx="1737360" cy="384048"/>
          </a:xfrm>
          <a:prstGeom prst="rect">
            <a:avLst/>
          </a:prstGeom>
          <a:solidFill>
            <a:srgbClr val="27374F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39756" y="27066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Next.js 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116" y="2697480"/>
            <a:ext cx="1737360" cy="384048"/>
          </a:xfrm>
          <a:prstGeom prst="rect">
            <a:avLst/>
          </a:prstGeom>
          <a:solidFill>
            <a:srgbClr val="27374F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116" y="27066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Payload CMS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4476" y="2697480"/>
            <a:ext cx="1737360" cy="384048"/>
          </a:xfrm>
          <a:prstGeom prst="rect">
            <a:avLst/>
          </a:prstGeom>
          <a:solidFill>
            <a:srgbClr val="27374F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4476" y="27066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MongoDB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1836" y="2697480"/>
            <a:ext cx="1737360" cy="384048"/>
          </a:xfrm>
          <a:prstGeom prst="rect">
            <a:avLst/>
          </a:prstGeom>
          <a:solidFill>
            <a:srgbClr val="27374F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1836" y="27066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AWS EC2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474720"/>
            <a:ext cx="5788152" cy="242316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3474720"/>
            <a:ext cx="54864" cy="2423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611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 Light"/>
              </a:rPr>
              <a:t>Sinh viên: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6118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Nguyễn Chí Tôn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160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 Light"/>
              </a:rPr>
              <a:t>MSSV: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1605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170123297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709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 Light"/>
              </a:rPr>
              <a:t>Lớp: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709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DX23TT10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257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 Light"/>
              </a:rPr>
              <a:t>GVHD: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2578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ThS. Nguyễn Hoàng Duy Thiện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 Light"/>
              </a:rPr>
              <a:t>Trà Vinh, tháng 06 năm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Nội dung thuyết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57432" cy="1600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solidFill>
            <a:srgbClr val="27374F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3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F172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8308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Giới thiệu đề tài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5486400" cy="1371600"/>
          </a:xfrm>
          <a:prstGeom prst="rect">
            <a:avLst/>
          </a:prstGeom>
          <a:solidFill>
            <a:srgbClr val="27374F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7315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73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F172A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2900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Cơ sở lý thuyết – Công nghệ sử dụng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5486400" cy="1371600"/>
          </a:xfrm>
          <a:prstGeom prst="rect">
            <a:avLst/>
          </a:prstGeom>
          <a:solidFill>
            <a:srgbClr val="27374F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663440"/>
            <a:ext cx="7315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73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F172A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07492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Phân tích &amp; Thiết kế hệ thống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371600"/>
            <a:ext cx="5486400" cy="1371600"/>
          </a:xfrm>
          <a:prstGeom prst="rect">
            <a:avLst/>
          </a:prstGeom>
          <a:solidFill>
            <a:srgbClr val="27374F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371600"/>
            <a:ext cx="7315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73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F172A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178308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Cài đặt và triển khai trên AWS EC2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017520"/>
            <a:ext cx="5486400" cy="1371600"/>
          </a:xfrm>
          <a:prstGeom prst="rect">
            <a:avLst/>
          </a:prstGeom>
          <a:solidFill>
            <a:srgbClr val="27374F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017520"/>
            <a:ext cx="7315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20"/>
            <a:ext cx="73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F172A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42900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Kết quả &amp; Demo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663440"/>
            <a:ext cx="5486400" cy="1371600"/>
          </a:xfrm>
          <a:prstGeom prst="rect">
            <a:avLst/>
          </a:prstGeom>
          <a:solidFill>
            <a:srgbClr val="27374F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663440"/>
            <a:ext cx="7315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663440"/>
            <a:ext cx="73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F172A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07492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Kết luận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Lý do chọn đề tài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57432" cy="1600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749039" cy="521208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749039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891B2"/>
                </a:solidFill>
                <a:latin typeface="Calibri"/>
              </a:rPr>
              <a:t>Thực trạng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01368"/>
            <a:ext cx="3474719" cy="1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36576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96680"/>
            <a:ext cx="29717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 Light"/>
              </a:rPr>
              <a:t>E-commerce VN tăng trưởng 25%/năm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37560"/>
            <a:ext cx="36576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22560"/>
            <a:ext cx="29717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 Light"/>
              </a:rPr>
              <a:t>Điện Máy Xanh, Nguyễn Kim đạt doanh thu nghìn tỷ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63440"/>
            <a:ext cx="36576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48440"/>
            <a:ext cx="29717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 Light"/>
              </a:rPr>
              <a:t>Website là kênh bán hàng thiết yếu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399" y="1234440"/>
            <a:ext cx="3749039" cy="521208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399" y="123444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79" y="1399032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Xu hướng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1801368"/>
            <a:ext cx="3474719" cy="1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201168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1996680"/>
            <a:ext cx="29717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 Light"/>
              </a:rPr>
              <a:t>Cloud Computing là hạ tầng tất yếu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333756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59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3322560"/>
            <a:ext cx="29717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 Light"/>
              </a:rPr>
              <a:t>AWS chiếm 31% thị phần cloud toàn cầu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59" y="466344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59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4648440"/>
            <a:ext cx="29717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 Light"/>
              </a:rPr>
              <a:t>Deploy server không cần mua phần cứng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38" y="1234440"/>
            <a:ext cx="3749039" cy="521208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38" y="1234440"/>
            <a:ext cx="3749039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18" y="1399032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  <a:latin typeface="Calibri"/>
              </a:rPr>
              <a:t>Mục tiêu đề tài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198" y="1801368"/>
            <a:ext cx="3474719" cy="1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58198" y="201168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198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398" y="1996680"/>
            <a:ext cx="29717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 Light"/>
              </a:rPr>
              <a:t>Tìm hiểu AWS EC2 – máy chủ đám mây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198" y="333756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198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398" y="3322560"/>
            <a:ext cx="29717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 Light"/>
              </a:rPr>
              <a:t>Xây dựng website điện máy hoàn chỉnh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198" y="4663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198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398" y="4648440"/>
            <a:ext cx="29717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 Light"/>
              </a:rPr>
              <a:t>Triển khai trên môi trường thực tế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Công nghệ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57432" cy="1600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577840" cy="1115568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435608"/>
            <a:ext cx="8686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43560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Next.js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4630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Next.js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37944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 Light"/>
              </a:rPr>
              <a:t>Framework React fullstack – App Router, SSR, TypeScript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5577840" cy="1115568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25880"/>
            <a:ext cx="54864" cy="11155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1435608"/>
            <a:ext cx="868680" cy="38404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43560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Payload CMS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4630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891B2"/>
                </a:solidFill>
                <a:latin typeface="Calibri"/>
              </a:rPr>
              <a:t>Payload CMS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837944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 Light"/>
              </a:rPr>
              <a:t>Headless CMS – Admin panel, REST API, auto collections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87752"/>
            <a:ext cx="5577840" cy="1115568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587752"/>
            <a:ext cx="54864" cy="11155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" y="2697480"/>
            <a:ext cx="86868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2697480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MongoDB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7249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Calibri"/>
              </a:rPr>
              <a:t>MongoDB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099816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 Light"/>
              </a:rPr>
              <a:t>NoSQL document database – Atlas hoặc local instance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587752"/>
            <a:ext cx="5577840" cy="1115568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587752"/>
            <a:ext cx="54864" cy="11155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55664" y="2697480"/>
            <a:ext cx="86868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2697480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AWS EC2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7249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AWS EC2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099816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 Light"/>
              </a:rPr>
              <a:t>Virtual machine t2.micro – Ubuntu 24.04 LTS, Free Tier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849624"/>
            <a:ext cx="5577840" cy="1115568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849624"/>
            <a:ext cx="54864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2064" y="3959352"/>
            <a:ext cx="8686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3959352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Nginx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398678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"/>
              </a:rPr>
              <a:t>Nginx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436168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 Light"/>
              </a:rPr>
              <a:t>Reverse proxy – port 80 → localhost:3000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849624"/>
            <a:ext cx="5577840" cy="1115568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849624"/>
            <a:ext cx="54864" cy="11155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55664" y="3959352"/>
            <a:ext cx="868680" cy="38404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3959352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PM2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398678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</a:rPr>
              <a:t>PM2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436168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 Light"/>
              </a:rPr>
              <a:t>Process manager – auto restart, startup on boot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5111496"/>
            <a:ext cx="5577840" cy="1115568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91840" y="5111496"/>
            <a:ext cx="54864" cy="1115568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38144" y="5221224"/>
            <a:ext cx="868680" cy="384048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38144" y="5221224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Xshell / Xftp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524865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CD34D"/>
                </a:solidFill>
                <a:latin typeface="Calibri"/>
              </a:rPr>
              <a:t>Xshell / Xftp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56235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 Light"/>
              </a:rPr>
              <a:t>SSH terminal &amp; SFTP file transfer client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Amazon EC2 là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Elastic Compute Cloud – Virtual Machine trên đám mây 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57432" cy="1600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 Light"/>
              </a:rPr>
              <a:t>Máy chủ ảo (Virtual Machine) chạy trên hạ tầng AWS – khởi tạo trong vài phút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08800"/>
            <a:ext cx="3200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08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 Light"/>
              </a:rPr>
              <a:t>Khởi tạo trong vài phút, ngay lập tức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31760"/>
            <a:ext cx="3200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3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 Light"/>
              </a:rPr>
              <a:t>Scale up/down dễ dàng theo nhu cầu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54720"/>
            <a:ext cx="3200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554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 Light"/>
              </a:rPr>
              <a:t>Free Tier: t2.micro miễn phí 12 tháng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77680"/>
            <a:ext cx="3200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377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 Light"/>
              </a:rPr>
              <a:t>Uptime 99.99% – SLA Amazon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00640"/>
            <a:ext cx="3200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0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 Light"/>
              </a:rPr>
              <a:t>Security Group = Firewall ảo linh hoạt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737360"/>
            <a:ext cx="5212080" cy="484632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828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Cấu hình sử dụng trong đồ án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331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Calibri"/>
              </a:rPr>
              <a:t>Instance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331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t2.micro – 1 vCPU, 1 GB 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0358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Calibri"/>
              </a:rPr>
              <a:t>OS / AMI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03580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Ubuntu Server 24.04 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7398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Calibri"/>
              </a:rPr>
              <a:t>Security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739896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Port 22 (SSH) · 80 (HTTP) · 443 (HTTPS)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4439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Calibri"/>
              </a:rPr>
              <a:t>Key Pair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443984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RSA .pem – xác thực SSH không cần password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1480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Calibri"/>
              </a:rPr>
              <a:t>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514807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20 GB EBS gp3 SSD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852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Calibri"/>
              </a:rPr>
              <a:t>Region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5852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ap-southeast-1 (Singapore)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Kiến trúc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57432" cy="1600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2514600" cy="1828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331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 Light"/>
              </a:rPr>
              <a:t>Port 80 / 443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1800" y="2926080"/>
            <a:ext cx="18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194560"/>
            <a:ext cx="2514600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194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NGINX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51760"/>
            <a:ext cx="2331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 Light"/>
              </a:rPr>
              <a:t>Reverse Proxy
port 80 → :3000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6440" y="2926080"/>
            <a:ext cx="18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194560"/>
            <a:ext cx="2514600" cy="1828800"/>
          </a:xfrm>
          <a:prstGeom prst="rect">
            <a:avLst/>
          </a:prstGeom>
          <a:solidFill>
            <a:srgbClr val="27374F"/>
          </a:solidFill>
          <a:ln w="12700">
            <a:solidFill>
              <a:srgbClr val="273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194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Next.js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51760"/>
            <a:ext cx="2331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 Light"/>
              </a:rPr>
              <a:t>PM2 · Port 3000
App Router +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1080" y="2926080"/>
            <a:ext cx="18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194560"/>
            <a:ext cx="2514600" cy="1828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21945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MongoDB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651760"/>
            <a:ext cx="2331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 Light"/>
              </a:rPr>
              <a:t>Port 27017
Local instance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4297680"/>
            <a:ext cx="2926080" cy="1600200"/>
          </a:xfrm>
          <a:prstGeom prst="rect">
            <a:avLst/>
          </a:prstGeom>
          <a:solidFill>
            <a:srgbClr val="27374F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389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Payload CMS (trong Next.js)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77316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 Light"/>
              </a:rPr>
              <a:t>▸ /admin → Quản trị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511149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 Light"/>
              </a:rPr>
              <a:t>▸ /api/* → REST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44982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 Light"/>
              </a:rPr>
              <a:t>▸ /api/orders → Đặt hàng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97680"/>
            <a:ext cx="5212080" cy="233172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4074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Routes 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0060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▸ / – Trang chủ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09320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▸ /san-pham – Danh sách SP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38581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▸ /san-pham/[slug] – Chi tiết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67842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▸ /tim-kiem – Tìm kiếm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97103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▸ /gio-hang, /dat-hang – Mua hàng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26364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▸ /lien-he – Liên hệ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Thiết kế cơ sở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MongoDB – 6 Collections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57432" cy="1600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49039" cy="2450592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49039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34440"/>
            <a:ext cx="352958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709928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_id (PK)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011680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name, slug (unique)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313432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category → FK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615184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price, originalPrice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916936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brand, inStock, featured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218688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images[] → FK media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520440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specifications [{key,val}]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234440"/>
            <a:ext cx="3749039" cy="2450592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79" y="1234440"/>
            <a:ext cx="3749039" cy="40233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7" y="1234440"/>
            <a:ext cx="352958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1" y="1709928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_id (PK)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1" y="2011680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name, slug (unique)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1" y="2313432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1" y="2615184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image → FK media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18" y="1234440"/>
            <a:ext cx="3749039" cy="2450592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18" y="1234440"/>
            <a:ext cx="3749039" cy="4023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6" y="1234440"/>
            <a:ext cx="352958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0" y="1709928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_id (PK)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0" y="2011680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orderCode (TS-XXXX)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0" y="2313432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customerName, phone, address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0" y="2615184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items [{id,name,price,qty}]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0" y="2916936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totalAmount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0" y="3218688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paymentMethod: cod|transfer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0" y="3520440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status: pending|confirmed|done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840480"/>
            <a:ext cx="3749039" cy="2450592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840480"/>
            <a:ext cx="3749039" cy="4023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3840480"/>
            <a:ext cx="352958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media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4315968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_id (PK)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" y="4617720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filename, url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" y="4919472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mimeType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" y="5221224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width, height, filesize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79" y="3840480"/>
            <a:ext cx="3749039" cy="2450592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97679" y="3840480"/>
            <a:ext cx="3749039" cy="40233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07407" y="3840480"/>
            <a:ext cx="352958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2271" y="4315968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_id (PK)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2271" y="4617720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email (unique)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62271" y="4919472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password (hashed)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62271" y="5221224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role: admin|user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18" y="3840480"/>
            <a:ext cx="3749039" cy="2450592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75318" y="3840480"/>
            <a:ext cx="3749039" cy="4023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85046" y="3840480"/>
            <a:ext cx="352958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contact-messages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9910" y="4315968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_id (PK)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9910" y="4617720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name, email, phone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9910" y="4919472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subject, message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9910" y="5221224"/>
            <a:ext cx="34747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• status: new|read|replied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Payload CMS – Admin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Giao diện quản trị tại /admin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57432" cy="1600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577840" cy="164592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  <a:latin typeface="Calibri"/>
              </a:rPr>
              <a:t>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4767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Thêm/sửa/xóa sản phẩm, upload nhiều ảnh,
nhập thông số kỹ thuật, đánh dấu nổi bật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5577840" cy="164592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54864" cy="1645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904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891B2"/>
                </a:solidFill>
                <a:latin typeface="Calibri"/>
              </a:rPr>
              <a:t>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4767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Quản lý 8 danh mục: Tivi, Điều hòa,
Tủ lạnh, Máy giặt, Laptop...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36392"/>
            <a:ext cx="5577840" cy="164592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136392"/>
            <a:ext cx="54864" cy="164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0098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C2626"/>
                </a:solidFill>
                <a:latin typeface="Calibri"/>
              </a:rPr>
              <a:t>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58184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Xem đơn hàng mới, cập nhật trạng thái
pending → confirmed → done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136392"/>
            <a:ext cx="5577840" cy="164592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136392"/>
            <a:ext cx="54864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0098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Calibri"/>
              </a:rPr>
              <a:t>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58184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Upload &amp; quản lý hình ảnh sản phẩm,
auto resize và lưu URL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46904"/>
            <a:ext cx="5577840" cy="164592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946904"/>
            <a:ext cx="54864" cy="16459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114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4A3B8"/>
                </a:solidFill>
                <a:latin typeface="Calibri"/>
              </a:rPr>
              <a:t>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568696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Tạo tài khoản admin, phân quyền,
xác thực JWT tích hợp sẵn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946904"/>
            <a:ext cx="5577840" cy="164592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946904"/>
            <a:ext cx="54864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1114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59669"/>
                </a:solidFill>
                <a:latin typeface="Calibri"/>
              </a:rPr>
              <a:t>Contact Messages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568696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Xem tin nhắn từ trang Liên hệ,
cập nhật trạng thái new|read|replied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Giao diện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Demo – TechShop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57432" cy="1600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2743200"/>
          </a:xfrm>
          <a:prstGeom prst="rect">
            <a:avLst/>
          </a:prstGeom>
          <a:solidFill>
            <a:srgbClr val="27374F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 Light"/>
              </a:rPr>
              <a:t>Screenshot
Trang Chủ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114800"/>
            <a:ext cx="5486400" cy="2468880"/>
          </a:xfrm>
          <a:prstGeom prst="rect">
            <a:avLst/>
          </a:prstGeom>
          <a:solidFill>
            <a:srgbClr val="27374F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11480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 Light"/>
              </a:rPr>
              <a:t>Screenshot
Trang Sản Phẩm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2344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Trang Chủ (/)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71907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Hero banner – TechShop điện máy chính hãng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031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4 cam kết: Giao hàng · Chính hãng · Bảo hành · Đổi trả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8716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Grid 6 danh mục nhanh (Tivi, Điều hòa, Tủ lạnh...)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7121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Grid 8 sản phẩm nổi bật (featured=true)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1148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891B2"/>
                </a:solidFill>
                <a:latin typeface="Calibri"/>
              </a:rPr>
              <a:t>Trang Sản Phẩm (/san-pham)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6177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Sidebar lọc: danh mục + giá slider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00176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Grid 4 cột – card sản phẩm với % giảm giá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538581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Filter theo ?danh-muc= query param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76986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Sắp xếp: mới nhất, giá tăng/giảm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Chi tiết sản phẩm &amp; Đặt hàng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Demo – Product Detail &amp; Checkout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57432" cy="1600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49039" cy="539496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Chi tiết SP (/san-pham/[slug])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984248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Gallery ảnh sản phẩm + zoom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880360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Giá đỏ nổi bật, giá gốc gạch ngang, % tiết kiệm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776472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Bảng thông số kỹ thuật (specifications)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4672584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Nút thêm giỏ hàng, thêm yêu thích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234440"/>
            <a:ext cx="3749039" cy="539496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234440"/>
            <a:ext cx="3749039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37160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91B2"/>
                </a:solidFill>
                <a:latin typeface="Calibri"/>
              </a:rPr>
              <a:t>Giỏ hàng &amp; Đặt hàng (/gio-hang, /dat-hang)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1" y="1984248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CartContext – lưu state giỏ hàng React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2880360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Cập nhật số lượng, xóa sản phẩm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1" y="3776472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Form checkout: tên, SĐT, địa chỉ, ghi chú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1" y="4672584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Thanh toán COD hoặc Chuyển khoản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1" y="5568696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POST /api/orders → MongoDB orders collection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18" y="1234440"/>
            <a:ext cx="3749039" cy="539496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18" y="1234440"/>
            <a:ext cx="3749039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8" y="137160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Tìm kiếm &amp; Yêu thích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0" y="1984248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Tìm kiếm fulltext: /tim-kiem?q=Samsung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0" y="2880360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Filter kết quả theo danh mục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0" y="3776472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Yêu thích lưu localStorage (không cần login)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0" y="4672584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Badge đếm số lượng trên Header icon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Quy trình triển khai lên AWS EC2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6 bước deploy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57432" cy="1600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49039" cy="2468880"/>
          </a:xfrm>
          <a:prstGeom prst="rect">
            <a:avLst/>
          </a:prstGeom>
          <a:solidFill>
            <a:srgbClr val="27374F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0040" y="128444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040" y="128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89440"/>
            <a:ext cx="3154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Calibri"/>
              </a:rPr>
              <a:t>Tạo EC2 Instance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9928"/>
            <a:ext cx="31546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Ubuntu 24.04 · t2.micro · Security Group
22/80/443 · Key Pair RSA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234440"/>
            <a:ext cx="3749039" cy="2468880"/>
          </a:xfrm>
          <a:prstGeom prst="rect">
            <a:avLst/>
          </a:prstGeom>
          <a:solidFill>
            <a:srgbClr val="27374F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7679" y="128444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7679" y="128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599" y="1289440"/>
            <a:ext cx="3154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Calibri"/>
              </a:rPr>
              <a:t>Kết nối SSH (Xshell)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599" y="1709928"/>
            <a:ext cx="31546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ubuntu@&lt;Elastic-IP&gt; -i techshop-key.pem
Thêm fingerprint, xác nhận kết nối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8" y="1234440"/>
            <a:ext cx="3749039" cy="2468880"/>
          </a:xfrm>
          <a:prstGeom prst="rect">
            <a:avLst/>
          </a:prstGeom>
          <a:solidFill>
            <a:srgbClr val="27374F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5318" y="128444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5318" y="128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38" y="1289440"/>
            <a:ext cx="3154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Calibri"/>
              </a:rPr>
              <a:t>Cài đặt môi trường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38" y="1709928"/>
            <a:ext cx="31546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Node.js 20 LTS · MongoDB 7 · Nginx · PM2
Tạo 2GB swap cho t2.micro 1GB RAM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40480"/>
            <a:ext cx="3749039" cy="2468880"/>
          </a:xfrm>
          <a:prstGeom prst="rect">
            <a:avLst/>
          </a:prstGeom>
          <a:solidFill>
            <a:srgbClr val="27374F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0040" y="389048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040" y="3890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895480"/>
            <a:ext cx="3154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Calibri"/>
              </a:rPr>
              <a:t>Upload code (Xftp)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315968"/>
            <a:ext cx="31546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SFTP → /home/ubuntu/dien-may-website
Thêm file .env với MONGODB_URI, keys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3840480"/>
            <a:ext cx="3749039" cy="2468880"/>
          </a:xfrm>
          <a:prstGeom prst="rect">
            <a:avLst/>
          </a:prstGeom>
          <a:solidFill>
            <a:srgbClr val="27374F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7679" y="389048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7679" y="3890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599" y="3895480"/>
            <a:ext cx="3154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Calibri"/>
              </a:rPr>
              <a:t>Build &amp; chạy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599" y="4315968"/>
            <a:ext cx="31546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npm install &amp;&amp; npm run build (swap ~3 phút)
pm2 start npm -- start · pm2 startup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8" y="3840480"/>
            <a:ext cx="3749039" cy="2468880"/>
          </a:xfrm>
          <a:prstGeom prst="rect">
            <a:avLst/>
          </a:prstGeom>
          <a:solidFill>
            <a:srgbClr val="27374F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5318" y="389048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5318" y="3890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38" y="3895480"/>
            <a:ext cx="31546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Calibri"/>
              </a:rPr>
              <a:t>Nginx Reverse Proxy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38" y="4315968"/>
            <a:ext cx="31546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 Light"/>
              </a:rPr>
              <a:t>proxy_pass http://127.0.0.1:3000
systemctl enable nginx · test cấu hình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Sao lưu &amp; Phục hồi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Backup &amp; Restore MongoDB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57432" cy="1600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6400800" cy="1170432"/>
          </a:xfrm>
          <a:prstGeom prst="rect">
            <a:avLst/>
          </a:prstGeom>
          <a:solidFill>
            <a:srgbClr val="27374F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54864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1. Backup thủ công (Xshell)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92224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mongodump --db dien-may-website
  --out /home/ubuntu/backup/$(date +%Y%m%d)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78608"/>
            <a:ext cx="6400800" cy="1170432"/>
          </a:xfrm>
          <a:prstGeom prst="rect">
            <a:avLst/>
          </a:prstGeom>
          <a:solidFill>
            <a:srgbClr val="27374F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578608"/>
            <a:ext cx="54864" cy="11704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70048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91B2"/>
                </a:solidFill>
                <a:latin typeface="Calibri"/>
              </a:rPr>
              <a:t>2. Download file (Xftp)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SFTP → /home/ubuntu/backup/ → kéo
thư mục backup về máy local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77056"/>
            <a:ext cx="6400800" cy="1170432"/>
          </a:xfrm>
          <a:prstGeom prst="rect">
            <a:avLst/>
          </a:prstGeom>
          <a:solidFill>
            <a:srgbClr val="27374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877056"/>
            <a:ext cx="54864" cy="11704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68496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3. Backup tự động hàng ngày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8912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crontab -e
0 2 * * *  mongodump --db ... --out 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75504"/>
            <a:ext cx="6400800" cy="1170432"/>
          </a:xfrm>
          <a:prstGeom prst="rect">
            <a:avLst/>
          </a:prstGeom>
          <a:solidFill>
            <a:srgbClr val="27374F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175504"/>
            <a:ext cx="54864" cy="1170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266944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4. Restore khi sự cố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687568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ourier New"/>
              </a:rPr>
              <a:t>mongorestore --db dien-may-website
  /home/ubuntu/backup/20260601/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1280160"/>
            <a:ext cx="4800600" cy="521208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1417320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Lưu ý khi sao lưu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920240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Backup trước khi update code hoặc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788920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File backup nên lưu ít nhất 7 ngày gần nhất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657600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Kiểm tra dung lượng EBS (df -h) định kỳ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526280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Nên thêm S3 sync cho backup offsite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394960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▸  mongodump tạo thư mục BSON có thể restore y hệt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Kết quả đạt được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Tổng kết những gì đã thực hiện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57432" cy="1600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577840" cy="1207008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82496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8249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71600"/>
            <a:ext cx="4800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D34D"/>
                </a:solidFill>
                <a:latin typeface="Calibri"/>
              </a:rPr>
              <a:t>AWS EC2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10512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Tạo và quản lý Instance t2.micro thành công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5577840" cy="1207008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82496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8249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371600"/>
            <a:ext cx="4800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D34D"/>
                </a:solidFill>
                <a:latin typeface="Calibri"/>
              </a:rPr>
              <a:t>Website hoạt động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810512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9 trang frontend + Admin panel + REST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33472"/>
            <a:ext cx="5577840" cy="1207008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35808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358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724912"/>
            <a:ext cx="4800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D34D"/>
                </a:solidFill>
                <a:latin typeface="Calibri"/>
              </a:rPr>
              <a:t>Sản phẩm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163824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18 sản phẩm, 8 danh mục đã seed dữ liệu thực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633472"/>
            <a:ext cx="5577840" cy="1207008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035808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0358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724912"/>
            <a:ext cx="4800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D34D"/>
                </a:solidFill>
                <a:latin typeface="Calibri"/>
              </a:rPr>
              <a:t>Deploy 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163824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Nginx + PM2 chạy ổn định trên Ubuntu 24.04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986784"/>
            <a:ext cx="5577840" cy="1207008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078224"/>
            <a:ext cx="4800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D34D"/>
                </a:solidFill>
                <a:latin typeface="Calibri"/>
              </a:rPr>
              <a:t>Backup / Restore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517136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mongodump/mongorestore, crontab tự động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986784"/>
            <a:ext cx="5577840" cy="1207008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43891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078224"/>
            <a:ext cx="4800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D34D"/>
                </a:solidFill>
                <a:latin typeface="Calibri"/>
              </a:rPr>
              <a:t>Xshell / Xftp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517136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Kết nối SSH, quản lý file, upload code thành công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340096"/>
            <a:ext cx="5577840" cy="1207008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742432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742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431536"/>
            <a:ext cx="4800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D34D"/>
                </a:solidFill>
                <a:latin typeface="Calibri"/>
              </a:rPr>
              <a:t>Báo cáo &amp; Slide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870448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 Light"/>
              </a:rPr>
              <a:t>Tài liệu đầy đủ theo mẫu TVU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1280160"/>
            <a:ext cx="5577840" cy="1207008"/>
          </a:xfrm>
          <a:prstGeom prst="rect">
            <a:avLst/>
          </a:prstGeom>
          <a:solidFill>
            <a:srgbClr val="27374F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13898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URL triển khai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8288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ourier New"/>
              </a:rPr>
              <a:t>http://&lt;Elastic-IP&gt;        →  Website
http://&lt;Elastic-IP&gt;/admin  →  Admin Panel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64008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Kết luận &amp; 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57432" cy="1600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486400" cy="539496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Kết luận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  <a:latin typeface="Calibri Light"/>
              </a:rPr>
              <a:t>✓  Nắm vững AWS EC2: tạo instance, SSH, 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  <a:latin typeface="Calibri Light"/>
              </a:rPr>
              <a:t>✓  Xây dựng website thương mại điện tử hoàn chỉnh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  <a:latin typeface="Calibri Light"/>
              </a:rPr>
              <a:t>✓  Áp dụng stack hiện đại: Next.js + Payload CMS + 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51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  <a:latin typeface="Calibri Light"/>
              </a:rPr>
              <a:t>✓  Triển khai Production: Nginx reverse proxy + PM2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0292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  <a:latin typeface="Calibri Light"/>
              </a:rPr>
              <a:t>✓  Thực hành Backup/Restore dữ liệu thực tế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06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E7B7"/>
                </a:solidFill>
                <a:latin typeface="Calibri Light"/>
              </a:rPr>
              <a:t>✓  Sử dụng Xshell/Xftp để quản lý server từ 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234440"/>
            <a:ext cx="5760720" cy="539496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234440"/>
            <a:ext cx="57607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371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3C5FD"/>
                </a:solidFill>
                <a:latin typeface="Calibri"/>
              </a:rPr>
              <a:t>Hướng phát triển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980240"/>
            <a:ext cx="3200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9402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Thanh toán online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3591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Tích hợp VNPay, MoMo, ZaloPay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876352"/>
            <a:ext cx="32004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8363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891B2"/>
                </a:solidFill>
                <a:latin typeface="Calibri"/>
              </a:rPr>
              <a:t>Tài khoản người dùng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25526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Đăng ký/đăng nhập, lịch sử đơn hàng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772464"/>
            <a:ext cx="32004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7324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Calibri"/>
              </a:rPr>
              <a:t>SSL / HTTPS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15137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Let's Encrypt – cerbot auto-renew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668576"/>
            <a:ext cx="3200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62857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Calibri"/>
              </a:rPr>
              <a:t>CDN &amp; CloudFront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04748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Tăng tốc độ tải ảnh toàn cầu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564688"/>
            <a:ext cx="32004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552468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  <a:latin typeface="Calibri"/>
              </a:rPr>
              <a:t>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943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 Light"/>
              </a:rPr>
              <a:t>AWS CloudWatch – cảnh báo CPU/RAM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1887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9E0B"/>
                </a:solidFill>
                <a:latin typeface="Calibri"/>
              </a:rPr>
              <a:t>XIN CẢM ƠN THẦY/CÔ VÀ CÁC BẠN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4884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 Light"/>
              </a:rPr>
              <a:t>ĐÃ LẮNG NGHE!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971800"/>
            <a:ext cx="4873752" cy="1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788152" cy="1188720"/>
          </a:xfrm>
          <a:prstGeom prst="rect">
            <a:avLst/>
          </a:prstGeom>
          <a:solidFill>
            <a:srgbClr val="27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246120"/>
            <a:ext cx="5788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CD34D"/>
                </a:solidFill>
                <a:latin typeface="Calibri"/>
              </a:rPr>
              <a:t>❓  CÂU HỎI VÀ THẢO LUẬN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8463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 Light"/>
              </a:rPr>
              <a:t>Sinh viên:  Nguyễn Chí Tôn  –  MSSV: 170123297  –  Lớp: DX23TT10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3492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 Light"/>
              </a:rPr>
              <a:t>GVHD:  ThS. Nguyễn Hoàng Duy Thiện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0533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374F"/>
                </a:solidFill>
                <a:latin typeface="Calibri Light"/>
              </a:rPr>
              <a:t>Trà Vinh, tháng 06 năm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